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Решение для руководителей строек и инженеров строительного контроля.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215">
              <a:alpha val="68000"/>
            </a:srgbClr>
          </a:solidFill>
          <a:ln w="12700">
            <a:solidFill>
              <a:srgbClr val="0D1215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4008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B7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СтройКонтроль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32588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EC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Площадка под контролем каждые тридцать минут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4290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2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Техника на снимках камер сверяется с графиком работ: этап, отклонения и прогноз срока — без выезда на объект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B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Хакатон Департамента градостроительной политики г. Москвы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C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Задача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Камеры снимают площадку круглосуточно, но снимки никто не сверяет с графиком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141A1E"/>
          </a:solidFill>
          <a:ln w="9525">
            <a:solidFill>
              <a:srgbClr val="2A3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691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EC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pPr indent="0" marL="0">
              <a:buNone/>
            </a:pPr>
            <a:r>
              <a:rPr lang="en-US" sz="1300" dirty="0">
                <a:solidFill>
                  <a:srgbClr val="CDB7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минут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514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B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интервал снимков с камер по периметру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55448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141A1E"/>
          </a:solidFill>
          <a:ln w="9525">
            <a:solidFill>
              <a:srgbClr val="2A32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47872" y="1691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EC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377</a:t>
            </a:r>
            <a:pPr indent="0" marL="0">
              <a:buNone/>
            </a:pPr>
            <a:r>
              <a:rPr lang="en-US" sz="1300" dirty="0">
                <a:solidFill>
                  <a:srgbClr val="CDB7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работ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2514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B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справочнике, девять типов объектов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55448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141A1E"/>
          </a:solidFill>
          <a:ln w="9525">
            <a:solidFill>
              <a:srgbClr val="2A32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91072" y="1691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EC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pPr indent="0" marL="0">
              <a:buNone/>
            </a:pPr>
            <a:r>
              <a:rPr lang="en-US" sz="1300" dirty="0">
                <a:solidFill>
                  <a:srgbClr val="CDB7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классов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291072" y="2514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B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строительной техники в методике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4290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DB7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Нужно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C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Понять, что идёт на площадке, какой техники не хватает, какие этапы отстают и когда объект будет сдан.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4290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DB7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C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вход только фото без метаданных, графика нет, часть площадки вне обзора, внутренние работы не видны.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C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Сценарий пользователя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создания стройки до отчёта — десять шагов в одном интерфейсе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ln w="11430">
            <a:solidFill>
              <a:srgbClr val="CDB7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DB7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9514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94560" y="1691640"/>
            <a:ext cx="457200" cy="457200"/>
          </a:xfrm>
          <a:prstGeom prst="ellipse">
            <a:avLst/>
          </a:prstGeom>
          <a:ln w="11430">
            <a:solidFill>
              <a:srgbClr val="CDB7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94560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DB7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29514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Стройка и сроки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0" y="1691640"/>
            <a:ext cx="457200" cy="457200"/>
          </a:xfrm>
          <a:prstGeom prst="ellipse">
            <a:avLst/>
          </a:prstGeom>
          <a:ln w="11430">
            <a:solidFill>
              <a:srgbClr val="CDB7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40480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DB7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229514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 и тип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0" y="1691640"/>
            <a:ext cx="457200" cy="457200"/>
          </a:xfrm>
          <a:prstGeom prst="ellipse">
            <a:avLst/>
          </a:prstGeom>
          <a:ln w="11430">
            <a:solidFill>
              <a:srgbClr val="CDB7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0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DB7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229514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плана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32320" y="1691640"/>
            <a:ext cx="457200" cy="457200"/>
          </a:xfrm>
          <a:prstGeom prst="ellipse">
            <a:avLst/>
          </a:prstGeom>
          <a:ln w="11430">
            <a:solidFill>
              <a:srgbClr val="CDB7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0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DB7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229514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Снимки и камеры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ln w="11430">
            <a:solidFill>
              <a:srgbClr val="CDB7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DB7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66674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работ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194560" y="3063240"/>
            <a:ext cx="457200" cy="457200"/>
          </a:xfrm>
          <a:prstGeom prst="ellipse">
            <a:avLst/>
          </a:prstGeom>
          <a:ln w="11430">
            <a:solidFill>
              <a:srgbClr val="CDB78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9456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DB7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194560" y="366674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Детекция техники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840480" y="3063240"/>
            <a:ext cx="457200" cy="457200"/>
          </a:xfrm>
          <a:prstGeom prst="ellipse">
            <a:avLst/>
          </a:prstGeom>
          <a:ln w="11430">
            <a:solidFill>
              <a:srgbClr val="CDB78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4048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DB7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840480" y="366674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Вердикт по методике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0" y="3063240"/>
            <a:ext cx="457200" cy="457200"/>
          </a:xfrm>
          <a:prstGeom prst="ellipse">
            <a:avLst/>
          </a:prstGeom>
          <a:ln w="11430">
            <a:solidFill>
              <a:srgbClr val="CDB78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DB7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366674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Таймлайн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132320" y="3063240"/>
            <a:ext cx="457200" cy="457200"/>
          </a:xfrm>
          <a:prstGeom prst="ellipse">
            <a:avLst/>
          </a:prstGeom>
          <a:ln w="11430">
            <a:solidFill>
              <a:srgbClr val="CDB78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13232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DB7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366674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4434840"/>
            <a:ext cx="8046720" cy="0"/>
          </a:xfrm>
          <a:prstGeom prst="line">
            <a:avLst/>
          </a:prstGeom>
          <a:noFill/>
          <a:ln w="9525">
            <a:solidFill>
              <a:srgbClr val="2A323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45537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Камеры: эмулятор ленты кадров с условным временем, HTTP-снимок, RTSP-поток, ручная загрузка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C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работает анализ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88720" cy="1143000"/>
          </a:xfrm>
          <a:prstGeom prst="roundRect">
            <a:avLst>
              <a:gd name="adj" fmla="val 8000"/>
            </a:avLst>
          </a:prstGeom>
          <a:solidFill>
            <a:srgbClr val="141A1E"/>
          </a:solidFill>
          <a:ln w="9525">
            <a:solidFill>
              <a:srgbClr val="2A32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444752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Снимок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92024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37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время, камера, зона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911096" y="1325880"/>
            <a:ext cx="1188720" cy="1143000"/>
          </a:xfrm>
          <a:prstGeom prst="roundRect">
            <a:avLst>
              <a:gd name="adj" fmla="val 8000"/>
            </a:avLst>
          </a:prstGeom>
          <a:solidFill>
            <a:srgbClr val="141A1E"/>
          </a:solidFill>
          <a:ln w="9525">
            <a:solidFill>
              <a:srgbClr val="2A32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20824" y="1444752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YOLO-World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020824" y="192024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37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классов техники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73552" y="1325880"/>
            <a:ext cx="1188720" cy="1143000"/>
          </a:xfrm>
          <a:prstGeom prst="roundRect">
            <a:avLst>
              <a:gd name="adj" fmla="val 8000"/>
            </a:avLst>
          </a:prstGeom>
          <a:solidFill>
            <a:srgbClr val="141A1E"/>
          </a:solidFill>
          <a:ln w="9525">
            <a:solidFill>
              <a:srgbClr val="2A32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444752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 / стоит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192024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37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соседние кадры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36008" y="1325880"/>
            <a:ext cx="1188720" cy="1143000"/>
          </a:xfrm>
          <a:prstGeom prst="roundRect">
            <a:avLst>
              <a:gd name="adj" fmla="val 8000"/>
            </a:avLst>
          </a:prstGeom>
          <a:solidFill>
            <a:srgbClr val="141A1E"/>
          </a:solidFill>
          <a:ln w="9525">
            <a:solidFill>
              <a:srgbClr val="CDB7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45736" y="1444752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B7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работ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745736" y="192024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37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методика и график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98464" y="1325880"/>
            <a:ext cx="1188720" cy="1143000"/>
          </a:xfrm>
          <a:prstGeom prst="roundRect">
            <a:avLst>
              <a:gd name="adj" fmla="val 8000"/>
            </a:avLst>
          </a:prstGeom>
          <a:solidFill>
            <a:srgbClr val="141A1E"/>
          </a:solidFill>
          <a:ln w="9525">
            <a:solidFill>
              <a:srgbClr val="2A32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08192" y="1444752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Вердикт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108192" y="192024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37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типов отклонений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60920" y="1325880"/>
            <a:ext cx="1188720" cy="1143000"/>
          </a:xfrm>
          <a:prstGeom prst="roundRect">
            <a:avLst>
              <a:gd name="adj" fmla="val 8000"/>
            </a:avLst>
          </a:prstGeom>
          <a:solidFill>
            <a:srgbClr val="141A1E"/>
          </a:solidFill>
          <a:ln w="9525">
            <a:solidFill>
              <a:srgbClr val="2A32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70648" y="1444752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470648" y="192024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37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готовность и срок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Балл этапа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2461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B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(0,6 · обязательная техника + 0,3 · объяснённость − 0,4 · нетипичность) × наблюдаемость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931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Редкая техника весит больше: сваебойная установка информативнее грузовика.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2834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Разрешение по графику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32461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6AB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этапы, которые идут по плану.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6AB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Внеплановый этап — только при необъяснённой технике.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6AB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Экскаватор без самосвалов — неполный котлован, а не опережение по сетям.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C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Методика «этап → техника»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Двадцать этапов; внутри группы обязательной техники — ИЛИ, между группами — И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210312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DB78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Этап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DB78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Обязательная техника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DB78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Нетипичная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DB78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Видно камерой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1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B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Свайные работы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6AB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Буровая или сваебойная установка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6AB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Асфальтоукладчик, каток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6AB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хорошо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1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B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Разработка грунта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6AB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Экскаватор; самосвал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6AB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Асфальтоукладчик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6AB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хорошо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1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B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Фундамент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6AB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Автобетоносмеситель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6AB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Асфальтоукладчик, каток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6AB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хорошо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1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B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Каркас выше нуля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6AB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Башенный кран или автокран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6AB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Сваебойная, бульдозер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6AB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хорошо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1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B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Дорожная одежда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6AB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Каток; асфальтоукладчик или грейдер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6AB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Сваебойная, башенный кран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6AB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хорошо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1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CEB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Внутренняя отделка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6AB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6AB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6AB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нет, статус по срокам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21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377 работ справочника автоматически привязаны к этапам; сроки распределяются по типовым окнам и правятся вручную.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C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Вердикт: что есть и чего нет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4754880" cy="316472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24128" y="2595271"/>
            <a:ext cx="1569110" cy="632945"/>
          </a:xfrm>
          <a:prstGeom prst="rect">
            <a:avLst/>
          </a:prstGeom>
          <a:ln w="19050">
            <a:solidFill>
              <a:srgbClr val="E9C46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24128" y="2403247"/>
            <a:ext cx="749808" cy="173736"/>
          </a:xfrm>
          <a:prstGeom prst="rect">
            <a:avLst/>
          </a:prstGeom>
          <a:solidFill>
            <a:srgbClr val="E9C4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Экскаватор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495190" y="2563624"/>
            <a:ext cx="760781" cy="569650"/>
          </a:xfrm>
          <a:prstGeom prst="rect">
            <a:avLst/>
          </a:prstGeom>
          <a:ln w="19050">
            <a:solidFill>
              <a:srgbClr val="E9C46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495190" y="2371600"/>
            <a:ext cx="749808" cy="173736"/>
          </a:xfrm>
          <a:prstGeom prst="rect">
            <a:avLst/>
          </a:prstGeom>
          <a:solidFill>
            <a:srgbClr val="E9C4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Экскаватор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783434" y="2880096"/>
            <a:ext cx="1046074" cy="1107653"/>
          </a:xfrm>
          <a:prstGeom prst="rect">
            <a:avLst/>
          </a:prstGeom>
          <a:ln w="19050">
            <a:solidFill>
              <a:srgbClr val="7FB2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783434" y="2688072"/>
            <a:ext cx="749808" cy="173736"/>
          </a:xfrm>
          <a:prstGeom prst="rect">
            <a:avLst/>
          </a:prstGeom>
          <a:solidFill>
            <a:srgbClr val="7FB2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Погрузчик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454027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Иллюстрация разметки на снимке из материалов хакатона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577840" y="1234440"/>
            <a:ext cx="3017520" cy="3154680"/>
          </a:xfrm>
          <a:prstGeom prst="roundRect">
            <a:avLst>
              <a:gd name="adj" fmla="val 3030"/>
            </a:avLst>
          </a:prstGeom>
          <a:solidFill>
            <a:srgbClr val="141A1E"/>
          </a:solidFill>
          <a:ln w="9525">
            <a:solidFill>
              <a:srgbClr val="2A323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06440" y="1417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A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Предупреждение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806440" y="17373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C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Разработка грунта: нет самосвалов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806440" y="26060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8CC3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Есть: экскаватор ×2, погрузчик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E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Нет: самосвал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A6AB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Зона: котлован; 4 снимка за 2 часа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806440" y="3474720"/>
            <a:ext cx="2560320" cy="0"/>
          </a:xfrm>
          <a:prstGeom prst="line">
            <a:avLst/>
          </a:prstGeom>
          <a:noFill/>
          <a:ln w="9525">
            <a:solidFill>
              <a:srgbClr val="2A323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806440" y="3566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6AB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Организовать вывоз грунта, иначе котлован отстанет, а экскаваторы простаивают.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C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Таймлайн, готовность и прогноз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Свайные работы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636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B7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выполнено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377440" y="1481328"/>
            <a:ext cx="3566160" cy="91440"/>
          </a:xfrm>
          <a:prstGeom prst="roundRect">
            <a:avLst>
              <a:gd name="adj" fmla="val 50000"/>
            </a:avLst>
          </a:prstGeom>
          <a:solidFill>
            <a:srgbClr val="1D2429"/>
          </a:solidFill>
          <a:ln w="12700">
            <a:solidFill>
              <a:srgbClr val="1D24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48763" y="1481328"/>
            <a:ext cx="641909" cy="91440"/>
          </a:xfrm>
          <a:prstGeom prst="roundRect">
            <a:avLst>
              <a:gd name="adj" fmla="val 50000"/>
            </a:avLst>
          </a:prstGeom>
          <a:solidFill>
            <a:srgbClr val="CDB78F"/>
          </a:solidFill>
          <a:ln w="12700">
            <a:solidFill>
              <a:srgbClr val="CDB7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89280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грунта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305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A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 отставания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77440" y="2048256"/>
            <a:ext cx="3566160" cy="91440"/>
          </a:xfrm>
          <a:prstGeom prst="roundRect">
            <a:avLst>
              <a:gd name="adj" fmla="val 50000"/>
            </a:avLst>
          </a:prstGeom>
          <a:solidFill>
            <a:srgbClr val="1D2429"/>
          </a:solidFill>
          <a:ln w="12700">
            <a:solidFill>
              <a:srgbClr val="1D24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76702" y="2048256"/>
            <a:ext cx="713232" cy="91440"/>
          </a:xfrm>
          <a:prstGeom prst="roundRect">
            <a:avLst>
              <a:gd name="adj" fmla="val 50000"/>
            </a:avLst>
          </a:prstGeom>
          <a:solidFill>
            <a:srgbClr val="F0A553"/>
          </a:solidFill>
          <a:ln w="12700">
            <a:solidFill>
              <a:srgbClr val="F0A55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597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Фундамент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697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E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отставание 12 дн.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77440" y="2615184"/>
            <a:ext cx="3566160" cy="91440"/>
          </a:xfrm>
          <a:prstGeom prst="roundRect">
            <a:avLst>
              <a:gd name="adj" fmla="val 50000"/>
            </a:avLst>
          </a:prstGeom>
          <a:solidFill>
            <a:srgbClr val="1D2429"/>
          </a:solidFill>
          <a:ln w="12700">
            <a:solidFill>
              <a:srgbClr val="1D242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75965" y="2615184"/>
            <a:ext cx="784555" cy="91440"/>
          </a:xfrm>
          <a:prstGeom prst="roundRect">
            <a:avLst>
              <a:gd name="adj" fmla="val 50000"/>
            </a:avLst>
          </a:prstGeom>
          <a:solidFill>
            <a:srgbClr val="EE7A67"/>
          </a:solidFill>
          <a:ln w="12700">
            <a:solidFill>
              <a:srgbClr val="EE7A6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0266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Каркас выше нуля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2644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37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запланировано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377440" y="3182112"/>
            <a:ext cx="3566160" cy="91440"/>
          </a:xfrm>
          <a:prstGeom prst="roundRect">
            <a:avLst>
              <a:gd name="adj" fmla="val 50000"/>
            </a:avLst>
          </a:prstGeom>
          <a:solidFill>
            <a:srgbClr val="1D2429"/>
          </a:solidFill>
          <a:ln w="12700">
            <a:solidFill>
              <a:srgbClr val="1D242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82212" y="3182112"/>
            <a:ext cx="1248156" cy="91440"/>
          </a:xfrm>
          <a:prstGeom prst="roundRect">
            <a:avLst>
              <a:gd name="adj" fmla="val 50000"/>
            </a:avLst>
          </a:prstGeom>
          <a:solidFill>
            <a:srgbClr val="4A545B"/>
          </a:solidFill>
          <a:ln w="12700">
            <a:solidFill>
              <a:srgbClr val="4A545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5935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Внутренняя отделка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83133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37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видно камерам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377440" y="3749040"/>
            <a:ext cx="3566160" cy="91440"/>
          </a:xfrm>
          <a:prstGeom prst="roundRect">
            <a:avLst>
              <a:gd name="adj" fmla="val 50000"/>
            </a:avLst>
          </a:prstGeom>
          <a:solidFill>
            <a:srgbClr val="1D2429"/>
          </a:solidFill>
          <a:ln w="12700">
            <a:solidFill>
              <a:srgbClr val="1D242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2429" y="3749040"/>
            <a:ext cx="1069848" cy="91440"/>
          </a:xfrm>
          <a:prstGeom prst="roundRect">
            <a:avLst>
              <a:gd name="adj" fmla="val 50000"/>
            </a:avLst>
          </a:prstGeom>
          <a:solidFill>
            <a:srgbClr val="4A545B"/>
          </a:solidFill>
          <a:ln w="12700">
            <a:solidFill>
              <a:srgbClr val="4A54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03904" y="1234440"/>
            <a:ext cx="0" cy="2880360"/>
          </a:xfrm>
          <a:prstGeom prst="line">
            <a:avLst/>
          </a:prstGeom>
          <a:noFill/>
          <a:ln w="12700">
            <a:solidFill>
              <a:srgbClr val="CDB78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29584" y="4160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DB7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0" y="1234440"/>
            <a:ext cx="2194560" cy="3017520"/>
          </a:xfrm>
          <a:prstGeom prst="roundRect">
            <a:avLst>
              <a:gd name="adj" fmla="val 4167"/>
            </a:avLst>
          </a:prstGeom>
          <a:solidFill>
            <a:srgbClr val="141A1E"/>
          </a:solidFill>
          <a:ln w="9525">
            <a:solidFill>
              <a:srgbClr val="2A323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2940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C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31%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1901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готовность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23042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C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0,82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6629400" y="2834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индекс графика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629400" y="323697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C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11 125 ₽</a:t>
            </a:r>
            <a:endParaRPr lang="en-US" sz="3000" dirty="0"/>
          </a:p>
        </p:txBody>
      </p:sp>
      <p:sp>
        <p:nvSpPr>
          <p:cNvPr id="31" name="Text 29"/>
          <p:cNvSpPr txBox="1"/>
          <p:nvPr/>
        </p:nvSpPr>
        <p:spPr>
          <a:xfrm>
            <a:off x="6629400" y="37673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простой техники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Простой техники пересчитан в рубли по ставкам методики. Дни отставания в деньги не переводятся сознательно.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C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Реальные условия площадки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2514600" cy="1600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9992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Простой техники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52044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B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Рамка на месте в соседних кадрах одной камеры — «стоит N минут»; дольше часа — отклонение.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91840" y="1234440"/>
            <a:ext cx="2514600" cy="1600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291840" y="29992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Зима и дальние планы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3291840" y="352044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B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YOLO-World без дообучения; скрипт объединяет датасеты хакатона и дообучает модель.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35040" y="1234440"/>
            <a:ext cx="2514600" cy="16002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035040" y="29992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Зоны вне обзора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6035040" y="352044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B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Камеры привязаны к зонам; ненаблюдаемые этапы помечаются, а не записываются в отставание.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C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Технологии и качество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02336" cy="402336"/>
          </a:xfrm>
          <a:prstGeom prst="ellipse">
            <a:avLst/>
          </a:prstGeom>
          <a:ln w="11430">
            <a:solidFill>
              <a:srgbClr val="CDB7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71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DB7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075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A6AB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FastAPI, SQLite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A6AB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YOLO-World, YOLO или ONNX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A6AB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бизнес-логика отделена от фреймворка и модели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A6AB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фоновый опрос камер и эмулятор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402336" cy="402336"/>
          </a:xfrm>
          <a:prstGeom prst="ellipse">
            <a:avLst/>
          </a:prstGeom>
          <a:ln w="11430">
            <a:solidFill>
              <a:srgbClr val="CDB7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271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DB7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13075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87452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A6AB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 и Vite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A6AB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дерево плана, рамки на снимке, таймлайн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A6AB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 с печатью в PDF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1280160"/>
            <a:ext cx="402336" cy="402336"/>
          </a:xfrm>
          <a:prstGeom prst="ellipse">
            <a:avLst/>
          </a:prstGeom>
          <a:ln w="11430">
            <a:solidFill>
              <a:srgbClr val="CDB7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1271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DB7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13075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Развёртывание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187452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A6AB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up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A6AB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веса модели загружаются при сборке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A6AB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дообучение: scripts/train_yolo.py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141A1E"/>
          </a:solidFill>
          <a:ln w="9525">
            <a:solidFill>
              <a:srgbClr val="3A33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84048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B7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 автотеста бэкенда</a:t>
            </a:r>
            <a:endParaRPr lang="en-US" sz="1600" dirty="0"/>
          </a:p>
          <a:p>
            <a:pPr indent="0" marL="0">
              <a:buNone/>
            </a:pPr>
            <a:r>
              <a:rPr lang="en-US" sz="1050" dirty="0">
                <a:solidFill>
                  <a:srgbClr val="A6AB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сквозной сценарий на реальных снимках, HTTP-камера, эмулятор, методика, прогноз; фронтенд — тесты логики и статическая проверка компонентов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215">
              <a:alpha val="78000"/>
            </a:srgbClr>
          </a:solidFill>
          <a:ln w="12700">
            <a:solidFill>
              <a:srgbClr val="0D1215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40080" y="5943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CEB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получает руководитель стройки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402336" cy="402336"/>
          </a:xfrm>
          <a:prstGeom prst="ellipse">
            <a:avLst/>
          </a:prstGeom>
          <a:ln w="11430">
            <a:solidFill>
              <a:srgbClr val="CDB7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591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DB7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6184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Фактический этап и отклонения каждые 30 минут без выезда на объект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258568"/>
            <a:ext cx="402336" cy="402336"/>
          </a:xfrm>
          <a:prstGeom prst="ellipse">
            <a:avLst/>
          </a:prstGeom>
          <a:ln w="11430">
            <a:solidFill>
              <a:srgbClr val="CDB78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DB7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27685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Доказательства: снимок, зона, техника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2916936"/>
            <a:ext cx="402336" cy="402336"/>
          </a:xfrm>
          <a:prstGeom prst="ellipse">
            <a:avLst/>
          </a:prstGeom>
          <a:ln w="11430">
            <a:solidFill>
              <a:srgbClr val="CDB78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2907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DB7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29352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Готовность, прогноз срока и риск задержки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3575304"/>
            <a:ext cx="402336" cy="402336"/>
          </a:xfrm>
          <a:prstGeom prst="ellipse">
            <a:avLst/>
          </a:prstGeom>
          <a:ln w="11430">
            <a:solidFill>
              <a:srgbClr val="CDB78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DB7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3593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Конкретные действия и рекомендации по камерам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2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Развитие: интеграция с календарным графиком заказчика, счёт рейсов самосвалов на въезде, объёмы грунта по снимкам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СтройКонтроль</dc:title>
  <dc:subject>PptxGenJS Presentation</dc:subject>
  <dc:creator>PptxGenJS</dc:creator>
  <cp:lastModifiedBy>PptxGenJS</cp:lastModifiedBy>
  <cp:revision>1</cp:revision>
  <dcterms:created xsi:type="dcterms:W3CDTF">2026-09-19T06:48:09Z</dcterms:created>
  <dcterms:modified xsi:type="dcterms:W3CDTF">2026-09-19T06:48:09Z</dcterms:modified>
</cp:coreProperties>
</file>